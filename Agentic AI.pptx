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68" r:id="rId6"/>
    <p:sldId id="266" r:id="rId7"/>
    <p:sldId id="260" r:id="rId8"/>
    <p:sldId id="265" r:id="rId9"/>
    <p:sldId id="263"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414D41-C544-FA53-B82F-90236D86F582}" v="824" dt="2025-06-16T10:28:21.911"/>
    <p1510:client id="{C7FB065D-B978-27F4-8658-588A2CDE78CE}" v="2" dt="2025-06-16T07:58:38.864"/>
    <p1510:client id="{E5FD5565-B17A-4467-AEB3-5E18ACA784AA}" v="479" dt="2025-06-16T08:54:29.2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06592-9C53-F6B0-627F-F7470FBECB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C45D514-4C43-C447-B8BF-84A7506927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BF674C4-B69A-4BCA-5792-55335545478F}"/>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5" name="Footer Placeholder 4">
            <a:extLst>
              <a:ext uri="{FF2B5EF4-FFF2-40B4-BE49-F238E27FC236}">
                <a16:creationId xmlns:a16="http://schemas.microsoft.com/office/drawing/2014/main" id="{C97AF907-21FC-3228-0AAF-D722BBADE4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637F1C-1614-C071-C946-2828DCB85F2C}"/>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3472339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FBA67-C2F7-EC3C-89EE-758A8DC1F9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FDFC17-F6C6-73D4-E620-EF4A4EADDA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771D0F-5954-8A05-0989-19A20DCEABE6}"/>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5" name="Footer Placeholder 4">
            <a:extLst>
              <a:ext uri="{FF2B5EF4-FFF2-40B4-BE49-F238E27FC236}">
                <a16:creationId xmlns:a16="http://schemas.microsoft.com/office/drawing/2014/main" id="{73C2C066-A5FC-3E02-15B1-0E9A969AF3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8D7CCE-668E-C3AA-4C74-296A6961C2E6}"/>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2448847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51C9-E3C1-F983-2F7C-782A8F2D39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907073-A0B5-3B13-9106-AA79E499F9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E8B02A-9807-E69A-1C6A-991A1907EC3D}"/>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5" name="Footer Placeholder 4">
            <a:extLst>
              <a:ext uri="{FF2B5EF4-FFF2-40B4-BE49-F238E27FC236}">
                <a16:creationId xmlns:a16="http://schemas.microsoft.com/office/drawing/2014/main" id="{A5CD6E9D-1837-3E93-6FD7-84AD19301F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7A7571-3CEF-A0E9-CB90-F325364A3005}"/>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1583058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CC8FA-35BC-ACE7-9275-D0F6D46D82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38F090-0BF2-1F9F-A3C2-F29731F80A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809561-B349-DA82-6207-1187D4AFB9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5E23EF-841F-405B-5CAF-70BE75EC0AA5}"/>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6" name="Footer Placeholder 5">
            <a:extLst>
              <a:ext uri="{FF2B5EF4-FFF2-40B4-BE49-F238E27FC236}">
                <a16:creationId xmlns:a16="http://schemas.microsoft.com/office/drawing/2014/main" id="{F09F81D4-9E47-9E42-8C60-882B1A411F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592AB3-C389-5231-5E47-5B5F459943DC}"/>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3549857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AEB8E-E55A-E754-B9F8-D45624BB23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E0788D-7934-EA05-A5BB-2AEA9E990E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8F9B32-4293-4614-25DD-199C905FA1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BB35336-3ACD-7148-8A62-01884B5C1E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1DE69F-4CFE-5DC0-0373-1207BBB065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8F82E7-0E0F-CFF6-42C8-0FE9378E4634}"/>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8" name="Footer Placeholder 7">
            <a:extLst>
              <a:ext uri="{FF2B5EF4-FFF2-40B4-BE49-F238E27FC236}">
                <a16:creationId xmlns:a16="http://schemas.microsoft.com/office/drawing/2014/main" id="{E3B697AC-5309-14D1-305E-595261F4BE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7CC891-EAEC-D618-9113-43238CFBA4E0}"/>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4198201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B98E8-E4CD-E7DD-6B5F-ACF5B2D96F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E1C10D3-40AA-E0A5-ACF9-334889417AF5}"/>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4" name="Footer Placeholder 3">
            <a:extLst>
              <a:ext uri="{FF2B5EF4-FFF2-40B4-BE49-F238E27FC236}">
                <a16:creationId xmlns:a16="http://schemas.microsoft.com/office/drawing/2014/main" id="{9CD4ABFD-F957-3843-D388-B59D5D0F7C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CD57B65-EE21-B66F-FF2F-181AF6502141}"/>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3363620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FEC85E-BDC6-DF4C-1B76-59C8FE903C7C}"/>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3" name="Footer Placeholder 2">
            <a:extLst>
              <a:ext uri="{FF2B5EF4-FFF2-40B4-BE49-F238E27FC236}">
                <a16:creationId xmlns:a16="http://schemas.microsoft.com/office/drawing/2014/main" id="{C60F7C5C-AC46-345D-45A1-9CCAB79D497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CB0158-BE33-6737-E0F0-EDBC29F77066}"/>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3940028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61EA5-8011-684B-1496-719B8285F4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4D61759-553F-A2F5-BAFD-35F2678879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0DE726-323C-C6A4-4EBF-7AF4A5733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8FB568-C79A-8957-6B2D-91F037F85B46}"/>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6" name="Footer Placeholder 5">
            <a:extLst>
              <a:ext uri="{FF2B5EF4-FFF2-40B4-BE49-F238E27FC236}">
                <a16:creationId xmlns:a16="http://schemas.microsoft.com/office/drawing/2014/main" id="{45248679-0777-57CD-A784-4D7906AE4A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3376F7-B69E-3018-0C5F-CE6E9D9EC364}"/>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1423836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B1C30-585C-6D5D-1805-8C219BA833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68C0720-8991-FF35-52CE-F546FB0F6E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6A8EAB8-4A99-2D47-D66B-1536CE17E4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0C0E7C-E297-A187-CC4B-C8A297DED070}"/>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6" name="Footer Placeholder 5">
            <a:extLst>
              <a:ext uri="{FF2B5EF4-FFF2-40B4-BE49-F238E27FC236}">
                <a16:creationId xmlns:a16="http://schemas.microsoft.com/office/drawing/2014/main" id="{4CF79AF8-C94A-F840-E8B0-974607AE31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C4D9F8-91D9-5070-0A43-1CF0AD82FA00}"/>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3252865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2FBB9-9164-63A5-CA8D-47646C1911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6F3E43-8B9F-ED09-C154-F8BBB2C989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07C7FA-3B49-623D-FE35-DD54B02BB343}"/>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5" name="Footer Placeholder 4">
            <a:extLst>
              <a:ext uri="{FF2B5EF4-FFF2-40B4-BE49-F238E27FC236}">
                <a16:creationId xmlns:a16="http://schemas.microsoft.com/office/drawing/2014/main" id="{E04B4D7D-0764-2F7E-D59A-AFF691498C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FF2931-F61E-5231-46A9-0E70C31523B5}"/>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268458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C29C9D-55CE-24F0-4260-BB8ED5D10B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3E6076-2EA9-05EB-F2B0-348A25FC3C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EB5022-32F8-3ABF-2DAA-8DD9F6772841}"/>
              </a:ext>
            </a:extLst>
          </p:cNvPr>
          <p:cNvSpPr>
            <a:spLocks noGrp="1"/>
          </p:cNvSpPr>
          <p:nvPr>
            <p:ph type="dt" sz="half" idx="10"/>
          </p:nvPr>
        </p:nvSpPr>
        <p:spPr/>
        <p:txBody>
          <a:bodyPr/>
          <a:lstStyle/>
          <a:p>
            <a:fld id="{F70AE7CF-3C15-42E5-97B7-F938693B5DF6}" type="datetimeFigureOut">
              <a:rPr lang="en-IN" smtClean="0"/>
              <a:t>16-06-2025</a:t>
            </a:fld>
            <a:endParaRPr lang="en-IN"/>
          </a:p>
        </p:txBody>
      </p:sp>
      <p:sp>
        <p:nvSpPr>
          <p:cNvPr id="5" name="Footer Placeholder 4">
            <a:extLst>
              <a:ext uri="{FF2B5EF4-FFF2-40B4-BE49-F238E27FC236}">
                <a16:creationId xmlns:a16="http://schemas.microsoft.com/office/drawing/2014/main" id="{0804DD1E-92E6-F956-B706-EDD0C5FDF2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B5BB4E-BBF2-473B-481B-89EB8739FF9A}"/>
              </a:ext>
            </a:extLst>
          </p:cNvPr>
          <p:cNvSpPr>
            <a:spLocks noGrp="1"/>
          </p:cNvSpPr>
          <p:nvPr>
            <p:ph type="sldNum" sz="quarter" idx="12"/>
          </p:nvPr>
        </p:nvSpPr>
        <p:spPr/>
        <p:txBody>
          <a:bodyPr/>
          <a:lstStyle/>
          <a:p>
            <a:fld id="{998DDE90-2345-462F-8B67-23E7D01509F2}" type="slidenum">
              <a:rPr lang="en-IN" smtClean="0"/>
              <a:t>‹#›</a:t>
            </a:fld>
            <a:endParaRPr lang="en-IN"/>
          </a:p>
        </p:txBody>
      </p:sp>
    </p:spTree>
    <p:extLst>
      <p:ext uri="{BB962C8B-B14F-4D97-AF65-F5344CB8AC3E}">
        <p14:creationId xmlns:p14="http://schemas.microsoft.com/office/powerpoint/2010/main" val="575708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D4A7AB-A9F7-897C-0C84-34759C1649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7D6840-CE9A-467B-1CDC-5274148456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8DE10B-6EFB-BAC1-C55A-94F58B654E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0AE7CF-3C15-42E5-97B7-F938693B5DF6}" type="datetimeFigureOut">
              <a:rPr lang="en-IN" smtClean="0"/>
              <a:t>16-06-2025</a:t>
            </a:fld>
            <a:endParaRPr lang="en-IN"/>
          </a:p>
        </p:txBody>
      </p:sp>
      <p:sp>
        <p:nvSpPr>
          <p:cNvPr id="5" name="Footer Placeholder 4">
            <a:extLst>
              <a:ext uri="{FF2B5EF4-FFF2-40B4-BE49-F238E27FC236}">
                <a16:creationId xmlns:a16="http://schemas.microsoft.com/office/drawing/2014/main" id="{A74D8877-3913-7612-4A32-5C3548DB6D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0A6C148-A9B4-F730-F29E-02CBFE7F1B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8DDE90-2345-462F-8B67-23E7D01509F2}" type="slidenum">
              <a:rPr lang="en-IN" smtClean="0"/>
              <a:t>‹#›</a:t>
            </a:fld>
            <a:endParaRPr lang="en-IN"/>
          </a:p>
        </p:txBody>
      </p:sp>
    </p:spTree>
    <p:extLst>
      <p:ext uri="{BB962C8B-B14F-4D97-AF65-F5344CB8AC3E}">
        <p14:creationId xmlns:p14="http://schemas.microsoft.com/office/powerpoint/2010/main" val="1559117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8B90B-CF8F-3061-655A-E891E6694E8B}"/>
              </a:ext>
            </a:extLst>
          </p:cNvPr>
          <p:cNvSpPr>
            <a:spLocks noGrp="1"/>
          </p:cNvSpPr>
          <p:nvPr>
            <p:ph type="ctrTitle"/>
          </p:nvPr>
        </p:nvSpPr>
        <p:spPr>
          <a:xfrm>
            <a:off x="1524000" y="1409350"/>
            <a:ext cx="9144000" cy="2387600"/>
          </a:xfrm>
        </p:spPr>
        <p:txBody>
          <a:bodyPr>
            <a:normAutofit/>
          </a:bodyPr>
          <a:lstStyle/>
          <a:p>
            <a:r>
              <a:rPr lang="en-IN" b="1">
                <a:ea typeface="Calibri Light"/>
                <a:cs typeface="Calibri Light"/>
              </a:rPr>
              <a:t>Agentic AI POC</a:t>
            </a:r>
            <a:r>
              <a:rPr lang="en-IN">
                <a:ea typeface="Calibri Light"/>
                <a:cs typeface="Calibri Light"/>
              </a:rPr>
              <a:t> </a:t>
            </a:r>
            <a:br>
              <a:rPr lang="en-IN">
                <a:ea typeface="Calibri Light"/>
                <a:cs typeface="Calibri Light"/>
              </a:rPr>
            </a:br>
            <a:endParaRPr lang="en-IN">
              <a:ea typeface="Calibri Light"/>
              <a:cs typeface="Calibri Light"/>
            </a:endParaRPr>
          </a:p>
        </p:txBody>
      </p:sp>
      <p:sp>
        <p:nvSpPr>
          <p:cNvPr id="3" name="Subtitle 2">
            <a:extLst>
              <a:ext uri="{FF2B5EF4-FFF2-40B4-BE49-F238E27FC236}">
                <a16:creationId xmlns:a16="http://schemas.microsoft.com/office/drawing/2014/main" id="{352B90D5-CD33-BB27-4C36-081C0D2F2C46}"/>
              </a:ext>
            </a:extLst>
          </p:cNvPr>
          <p:cNvSpPr>
            <a:spLocks noGrp="1"/>
          </p:cNvSpPr>
          <p:nvPr>
            <p:ph type="subTitle" idx="1"/>
          </p:nvPr>
        </p:nvSpPr>
        <p:spPr>
          <a:xfrm>
            <a:off x="1712026" y="3235882"/>
            <a:ext cx="9144000" cy="1655762"/>
          </a:xfrm>
        </p:spPr>
        <p:txBody>
          <a:bodyPr vert="horz" lIns="91440" tIns="45720" rIns="91440" bIns="45720" rtlCol="0" anchor="t">
            <a:normAutofit/>
          </a:bodyPr>
          <a:lstStyle/>
          <a:p>
            <a:r>
              <a:rPr lang="en-IN" sz="4000">
                <a:latin typeface="Calibri Light"/>
                <a:ea typeface="Calibri Light"/>
                <a:cs typeface="Calibri Light"/>
              </a:rPr>
              <a:t>Intelligent Document Processing</a:t>
            </a:r>
          </a:p>
          <a:p>
            <a:endParaRPr lang="en-IN">
              <a:ea typeface="Calibri"/>
              <a:cs typeface="Calibri"/>
            </a:endParaRPr>
          </a:p>
        </p:txBody>
      </p:sp>
    </p:spTree>
    <p:extLst>
      <p:ext uri="{BB962C8B-B14F-4D97-AF65-F5344CB8AC3E}">
        <p14:creationId xmlns:p14="http://schemas.microsoft.com/office/powerpoint/2010/main" val="967612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7FBD2-2CDE-F84C-D222-7287A89101AC}"/>
              </a:ext>
            </a:extLst>
          </p:cNvPr>
          <p:cNvSpPr>
            <a:spLocks noGrp="1"/>
          </p:cNvSpPr>
          <p:nvPr>
            <p:ph type="title"/>
          </p:nvPr>
        </p:nvSpPr>
        <p:spPr>
          <a:xfrm>
            <a:off x="838200" y="-99992"/>
            <a:ext cx="10515600" cy="1325563"/>
          </a:xfrm>
        </p:spPr>
        <p:txBody>
          <a:bodyPr/>
          <a:lstStyle/>
          <a:p>
            <a:r>
              <a:rPr lang="en-US" b="1">
                <a:ea typeface="Calibri Light"/>
                <a:cs typeface="Calibri Light"/>
              </a:rPr>
              <a:t>Key concepts </a:t>
            </a:r>
            <a:endParaRPr lang="en-US" b="1"/>
          </a:p>
        </p:txBody>
      </p:sp>
      <p:sp>
        <p:nvSpPr>
          <p:cNvPr id="3" name="Content Placeholder 2">
            <a:extLst>
              <a:ext uri="{FF2B5EF4-FFF2-40B4-BE49-F238E27FC236}">
                <a16:creationId xmlns:a16="http://schemas.microsoft.com/office/drawing/2014/main" id="{23476953-CA13-B9F2-BBF4-00C1731C84C2}"/>
              </a:ext>
            </a:extLst>
          </p:cNvPr>
          <p:cNvSpPr>
            <a:spLocks noGrp="1"/>
          </p:cNvSpPr>
          <p:nvPr>
            <p:ph idx="1"/>
          </p:nvPr>
        </p:nvSpPr>
        <p:spPr>
          <a:xfrm>
            <a:off x="838200" y="1053730"/>
            <a:ext cx="10515600" cy="5123233"/>
          </a:xfrm>
        </p:spPr>
        <p:txBody>
          <a:bodyPr vert="horz" lIns="91440" tIns="45720" rIns="91440" bIns="45720" rtlCol="0" anchor="t">
            <a:normAutofit/>
          </a:bodyPr>
          <a:lstStyle/>
          <a:p>
            <a:r>
              <a:rPr lang="en-US" sz="1800" b="1" err="1">
                <a:ea typeface="Calibri"/>
                <a:cs typeface="Calibri"/>
              </a:rPr>
              <a:t>LangChain</a:t>
            </a:r>
            <a:r>
              <a:rPr lang="en-US" sz="1800" b="1">
                <a:ea typeface="Calibri"/>
                <a:cs typeface="Calibri"/>
              </a:rPr>
              <a:t> -  </a:t>
            </a:r>
            <a:r>
              <a:rPr lang="en-US" sz="1800" b="1" err="1">
                <a:ea typeface="+mn-lt"/>
                <a:cs typeface="+mn-lt"/>
              </a:rPr>
              <a:t>LangChain</a:t>
            </a:r>
            <a:r>
              <a:rPr lang="en-US" sz="1800">
                <a:ea typeface="+mn-lt"/>
                <a:cs typeface="+mn-lt"/>
              </a:rPr>
              <a:t> is an open-source framework that simplifies the process of building applications with large language models (LLMs). </a:t>
            </a:r>
            <a:r>
              <a:rPr lang="en-US" sz="1800" err="1">
                <a:ea typeface="+mn-lt"/>
                <a:cs typeface="+mn-lt"/>
              </a:rPr>
              <a:t>LangChain</a:t>
            </a:r>
            <a:r>
              <a:rPr lang="en-US" sz="1800">
                <a:ea typeface="+mn-lt"/>
                <a:cs typeface="+mn-lt"/>
              </a:rPr>
              <a:t> is built around a small set of components—LLMs, prompts, chains, tools, agents, and memory—that you wire together to rapidly prototype and productionize LLM apps.</a:t>
            </a:r>
          </a:p>
          <a:p>
            <a:r>
              <a:rPr lang="en-US" sz="1800" b="1" err="1">
                <a:ea typeface="+mn-lt"/>
                <a:cs typeface="+mn-lt"/>
              </a:rPr>
              <a:t>LangGraph</a:t>
            </a:r>
            <a:r>
              <a:rPr lang="en-US" sz="1800">
                <a:ea typeface="+mn-lt"/>
                <a:cs typeface="+mn-lt"/>
              </a:rPr>
              <a:t> </a:t>
            </a:r>
            <a:r>
              <a:rPr lang="en-US" sz="1800" b="1">
                <a:ea typeface="+mn-lt"/>
                <a:cs typeface="+mn-lt"/>
              </a:rPr>
              <a:t>- </a:t>
            </a:r>
            <a:r>
              <a:rPr lang="en-US" sz="1800" err="1">
                <a:ea typeface="+mn-lt"/>
                <a:cs typeface="+mn-lt"/>
              </a:rPr>
              <a:t>Langraph</a:t>
            </a:r>
            <a:r>
              <a:rPr lang="en-US" sz="1800">
                <a:ea typeface="+mn-lt"/>
                <a:cs typeface="+mn-lt"/>
              </a:rPr>
              <a:t> is built on top of </a:t>
            </a:r>
            <a:r>
              <a:rPr lang="en-US" sz="1800" err="1">
                <a:ea typeface="+mn-lt"/>
                <a:cs typeface="+mn-lt"/>
              </a:rPr>
              <a:t>Langchain</a:t>
            </a:r>
            <a:r>
              <a:rPr lang="en-US" sz="1800">
                <a:ea typeface="+mn-lt"/>
                <a:cs typeface="+mn-lt"/>
              </a:rPr>
              <a:t> &amp; its functions. While </a:t>
            </a:r>
            <a:r>
              <a:rPr lang="en-US" sz="1800" err="1">
                <a:ea typeface="+mn-lt"/>
                <a:cs typeface="+mn-lt"/>
              </a:rPr>
              <a:t>LangChain</a:t>
            </a:r>
            <a:r>
              <a:rPr lang="en-US" sz="1800">
                <a:ea typeface="+mn-lt"/>
                <a:cs typeface="+mn-lt"/>
              </a:rPr>
              <a:t> provides the building blocks, </a:t>
            </a:r>
            <a:r>
              <a:rPr lang="en-US" sz="1800" err="1">
                <a:ea typeface="+mn-lt"/>
                <a:cs typeface="+mn-lt"/>
              </a:rPr>
              <a:t>LangGraph</a:t>
            </a:r>
            <a:r>
              <a:rPr lang="en-US" sz="1800">
                <a:ea typeface="+mn-lt"/>
                <a:cs typeface="+mn-lt"/>
              </a:rPr>
              <a:t> takes it a step further by allowing us to define stateful, multi-actor LLM applications as graphs. It is the graph-based framework for LLM-powered agents. </a:t>
            </a:r>
            <a:endParaRPr lang="en-US">
              <a:ea typeface="Calibri" panose="020F0502020204030204"/>
              <a:cs typeface="Calibri" panose="020F0502020204030204"/>
            </a:endParaRPr>
          </a:p>
          <a:p>
            <a:r>
              <a:rPr lang="en-US" sz="1800" b="1">
                <a:ea typeface="+mn-lt"/>
                <a:cs typeface="+mn-lt"/>
              </a:rPr>
              <a:t>Components of </a:t>
            </a:r>
            <a:r>
              <a:rPr lang="en-US" sz="1800" b="1" err="1">
                <a:ea typeface="+mn-lt"/>
                <a:cs typeface="+mn-lt"/>
              </a:rPr>
              <a:t>LangGraph</a:t>
            </a:r>
            <a:r>
              <a:rPr lang="en-US" sz="1800" b="1">
                <a:ea typeface="+mn-lt"/>
                <a:cs typeface="+mn-lt"/>
              </a:rPr>
              <a:t> </a:t>
            </a:r>
            <a:r>
              <a:rPr lang="en-US" sz="1800" b="1">
                <a:solidFill>
                  <a:srgbClr val="000000"/>
                </a:solidFill>
                <a:latin typeface="Calibri"/>
                <a:ea typeface="Calibri"/>
                <a:cs typeface="Calibri"/>
              </a:rPr>
              <a:t>– </a:t>
            </a:r>
            <a:endParaRPr lang="en-US">
              <a:ea typeface="+mn-lt"/>
              <a:cs typeface="+mn-lt"/>
            </a:endParaRPr>
          </a:p>
          <a:p>
            <a:pPr marL="457200" lvl="1">
              <a:buNone/>
            </a:pPr>
            <a:r>
              <a:rPr lang="en-US" sz="1800" b="1">
                <a:ea typeface="+mn-lt"/>
                <a:cs typeface="+mn-lt"/>
              </a:rPr>
              <a:t>Graph </a:t>
            </a:r>
            <a:r>
              <a:rPr lang="en-US" sz="1400">
                <a:ea typeface="+mn-lt"/>
                <a:cs typeface="+mn-lt"/>
              </a:rPr>
              <a:t>- </a:t>
            </a:r>
            <a:r>
              <a:rPr lang="en-US" sz="1800">
                <a:ea typeface="+mn-lt"/>
                <a:cs typeface="+mn-lt"/>
              </a:rPr>
              <a:t>A directed graph that represents your end-to-end workflow. </a:t>
            </a:r>
          </a:p>
          <a:p>
            <a:pPr marL="457200" lvl="1">
              <a:buNone/>
            </a:pPr>
            <a:r>
              <a:rPr lang="en-US" sz="1800" b="1">
                <a:ea typeface="+mn-lt"/>
                <a:cs typeface="+mn-lt"/>
              </a:rPr>
              <a:t>Nodes</a:t>
            </a:r>
            <a:r>
              <a:rPr lang="en-US" sz="1400">
                <a:ea typeface="+mn-lt"/>
                <a:cs typeface="+mn-lt"/>
              </a:rPr>
              <a:t> - </a:t>
            </a:r>
            <a:r>
              <a:rPr lang="en-US" sz="1800">
                <a:ea typeface="+mn-lt"/>
                <a:cs typeface="+mn-lt"/>
              </a:rPr>
              <a:t>the individual steps/tasks) </a:t>
            </a:r>
          </a:p>
          <a:p>
            <a:pPr marL="457200" lvl="1">
              <a:buNone/>
            </a:pPr>
            <a:r>
              <a:rPr lang="en-US" sz="1800" b="1">
                <a:ea typeface="+mn-lt"/>
                <a:cs typeface="+mn-lt"/>
              </a:rPr>
              <a:t>Edges -</a:t>
            </a:r>
            <a:r>
              <a:rPr lang="en-US" sz="1400">
                <a:ea typeface="+mn-lt"/>
                <a:cs typeface="+mn-lt"/>
              </a:rPr>
              <a:t> </a:t>
            </a:r>
            <a:r>
              <a:rPr lang="en-US" sz="1800">
                <a:ea typeface="+mn-lt"/>
                <a:cs typeface="+mn-lt"/>
              </a:rPr>
              <a:t>Define the flow of data between nodes.</a:t>
            </a:r>
          </a:p>
          <a:p>
            <a:pPr marL="457200" lvl="1">
              <a:buNone/>
            </a:pPr>
            <a:r>
              <a:rPr lang="en-US" sz="1800" b="1">
                <a:ea typeface="+mn-lt"/>
                <a:cs typeface="+mn-lt"/>
              </a:rPr>
              <a:t>State</a:t>
            </a:r>
            <a:r>
              <a:rPr lang="en-US" sz="1800">
                <a:ea typeface="+mn-lt"/>
                <a:cs typeface="+mn-lt"/>
              </a:rPr>
              <a:t>- Snapshot of all intermediate data, context variables, and progress markers for each node. </a:t>
            </a:r>
            <a:endParaRPr lang="en-US" sz="1400">
              <a:solidFill>
                <a:srgbClr val="1F1F1F"/>
              </a:solidFill>
              <a:latin typeface="Roboto"/>
              <a:ea typeface="Roboto"/>
              <a:cs typeface="Roboto"/>
            </a:endParaRPr>
          </a:p>
          <a:p>
            <a:pPr marL="457200" lvl="1">
              <a:buNone/>
            </a:pPr>
            <a:r>
              <a:rPr lang="en-US" sz="1800" b="1">
                <a:ea typeface="+mn-lt"/>
                <a:cs typeface="+mn-lt"/>
              </a:rPr>
              <a:t>START, END</a:t>
            </a:r>
            <a:r>
              <a:rPr lang="en-US" sz="1400" b="1">
                <a:ea typeface="Calibri"/>
                <a:cs typeface="Calibri"/>
              </a:rPr>
              <a:t> </a:t>
            </a:r>
            <a:r>
              <a:rPr lang="en-US" sz="1400">
                <a:ea typeface="Calibri"/>
                <a:cs typeface="Calibri"/>
              </a:rPr>
              <a:t>–</a:t>
            </a:r>
            <a:r>
              <a:rPr lang="en-US" sz="1800">
                <a:ea typeface="+mn-lt"/>
                <a:cs typeface="+mn-lt"/>
              </a:rPr>
              <a:t> inbuilt nodes</a:t>
            </a:r>
          </a:p>
          <a:p>
            <a:r>
              <a:rPr lang="en-US" sz="1800" b="1">
                <a:ea typeface="+mn-lt"/>
                <a:cs typeface="+mn-lt"/>
              </a:rPr>
              <a:t>Agents -</a:t>
            </a:r>
            <a:r>
              <a:rPr lang="en-US" sz="1200" b="1">
                <a:solidFill>
                  <a:srgbClr val="1F1F1F"/>
                </a:solidFill>
                <a:latin typeface="Roboto"/>
                <a:ea typeface="Roboto"/>
                <a:cs typeface="Roboto"/>
              </a:rPr>
              <a:t> </a:t>
            </a:r>
            <a:r>
              <a:rPr lang="en-US" sz="1800">
                <a:ea typeface="+mn-lt"/>
                <a:cs typeface="+mn-lt"/>
              </a:rPr>
              <a:t>They are the AI decision makers that can pick the right tool for the job without being explicitly told what tool to use.</a:t>
            </a:r>
          </a:p>
          <a:p>
            <a:r>
              <a:rPr lang="en-US" sz="1800" b="1">
                <a:ea typeface="+mn-lt"/>
                <a:cs typeface="+mn-lt"/>
              </a:rPr>
              <a:t>Tools - </a:t>
            </a:r>
            <a:r>
              <a:rPr lang="en-US" sz="1800">
                <a:ea typeface="+mn-lt"/>
                <a:cs typeface="+mn-lt"/>
              </a:rPr>
              <a:t>Tools are specific functions that agent can use to complete tasks </a:t>
            </a:r>
          </a:p>
        </p:txBody>
      </p:sp>
    </p:spTree>
    <p:extLst>
      <p:ext uri="{BB962C8B-B14F-4D97-AF65-F5344CB8AC3E}">
        <p14:creationId xmlns:p14="http://schemas.microsoft.com/office/powerpoint/2010/main" val="2057336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B8D0A-A187-D19F-B1A4-1D95C1B08C2F}"/>
              </a:ext>
            </a:extLst>
          </p:cNvPr>
          <p:cNvSpPr>
            <a:spLocks noGrp="1"/>
          </p:cNvSpPr>
          <p:nvPr>
            <p:ph type="title"/>
          </p:nvPr>
        </p:nvSpPr>
        <p:spPr/>
        <p:txBody>
          <a:bodyPr/>
          <a:lstStyle/>
          <a:p>
            <a:r>
              <a:rPr lang="en-US" b="1">
                <a:ea typeface="Calibri Light"/>
                <a:cs typeface="Calibri Light"/>
              </a:rPr>
              <a:t>Agentic AI - Architecture</a:t>
            </a:r>
            <a:endParaRPr lang="en-US" b="1"/>
          </a:p>
        </p:txBody>
      </p:sp>
      <p:pic>
        <p:nvPicPr>
          <p:cNvPr id="5" name="Content Placeholder 4">
            <a:extLst>
              <a:ext uri="{FF2B5EF4-FFF2-40B4-BE49-F238E27FC236}">
                <a16:creationId xmlns:a16="http://schemas.microsoft.com/office/drawing/2014/main" id="{556182F6-0D36-F097-505C-1A39D7ECE8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8751" y="1451906"/>
            <a:ext cx="8654498" cy="4860161"/>
          </a:xfrm>
          <a:ln w="9525">
            <a:solidFill>
              <a:schemeClr val="tx1"/>
            </a:solidFill>
          </a:ln>
        </p:spPr>
      </p:pic>
    </p:spTree>
    <p:extLst>
      <p:ext uri="{BB962C8B-B14F-4D97-AF65-F5344CB8AC3E}">
        <p14:creationId xmlns:p14="http://schemas.microsoft.com/office/powerpoint/2010/main" val="3565610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9563F-65B7-0837-834A-F32945AF0D69}"/>
              </a:ext>
            </a:extLst>
          </p:cNvPr>
          <p:cNvSpPr>
            <a:spLocks noGrp="1"/>
          </p:cNvSpPr>
          <p:nvPr>
            <p:ph type="title"/>
          </p:nvPr>
        </p:nvSpPr>
        <p:spPr>
          <a:xfrm>
            <a:off x="838200" y="68242"/>
            <a:ext cx="10515600" cy="1325563"/>
          </a:xfrm>
        </p:spPr>
        <p:txBody>
          <a:bodyPr/>
          <a:lstStyle/>
          <a:p>
            <a:r>
              <a:rPr lang="en-US">
                <a:ea typeface="Calibri Light"/>
                <a:cs typeface="Calibri Light"/>
              </a:rPr>
              <a:t>Agents</a:t>
            </a:r>
          </a:p>
        </p:txBody>
      </p:sp>
      <p:sp>
        <p:nvSpPr>
          <p:cNvPr id="3" name="Content Placeholder 2">
            <a:extLst>
              <a:ext uri="{FF2B5EF4-FFF2-40B4-BE49-F238E27FC236}">
                <a16:creationId xmlns:a16="http://schemas.microsoft.com/office/drawing/2014/main" id="{D7B5FA15-9DA0-B4AB-AE0B-600CDE77425D}"/>
              </a:ext>
            </a:extLst>
          </p:cNvPr>
          <p:cNvSpPr>
            <a:spLocks noGrp="1"/>
          </p:cNvSpPr>
          <p:nvPr>
            <p:ph idx="1"/>
          </p:nvPr>
        </p:nvSpPr>
        <p:spPr>
          <a:xfrm>
            <a:off x="838200" y="1398242"/>
            <a:ext cx="10515600" cy="4351338"/>
          </a:xfrm>
        </p:spPr>
        <p:txBody>
          <a:bodyPr>
            <a:normAutofit/>
          </a:bodyPr>
          <a:lstStyle/>
          <a:p>
            <a:pPr marL="0" indent="0">
              <a:buNone/>
            </a:pPr>
            <a:r>
              <a:rPr lang="en-IN" sz="1800"/>
              <a:t>In the context of LLMs, an agent is an intelligent entity that uses a language model to reason about what actions to take, executes those actions using available tools, observes the outcomes, and then repeats the cycle until a task is completed. Instead of a fixed sequence of operations, agents can dynamically decide their next step. Our system employs specialized agents, such as: </a:t>
            </a:r>
          </a:p>
          <a:p>
            <a:r>
              <a:rPr lang="en-IN" sz="1800" b="1"/>
              <a:t>MongoDB Agent (DocuSeek):</a:t>
            </a:r>
            <a:r>
              <a:rPr lang="en-IN" sz="1800"/>
              <a:t> Responsible for interacting with our document database to retrieve customer files.</a:t>
            </a:r>
          </a:p>
          <a:p>
            <a:r>
              <a:rPr lang="en-IN" sz="1800" b="1"/>
              <a:t>Completeness Agent (DocuHunt):</a:t>
            </a:r>
            <a:r>
              <a:rPr lang="en-IN" sz="1800"/>
              <a:t> Checks if all necessary documents for KYC are present</a:t>
            </a:r>
          </a:p>
          <a:p>
            <a:r>
              <a:rPr lang="en-IN" sz="1800" b="1"/>
              <a:t>Gmail Agent (MailCast):</a:t>
            </a:r>
            <a:r>
              <a:rPr lang="en-IN" sz="1800"/>
              <a:t> Handles sending automated emails, for example, to customers regarding incomplete documents.</a:t>
            </a:r>
          </a:p>
          <a:p>
            <a:r>
              <a:rPr lang="en-IN" sz="1800" b="1"/>
              <a:t>OCR Agent (IDQuest):</a:t>
            </a:r>
            <a:r>
              <a:rPr lang="en-IN" sz="1800"/>
              <a:t> Perform the OCR on available documents to extract the customer’s information.</a:t>
            </a:r>
          </a:p>
          <a:p>
            <a:r>
              <a:rPr lang="en-IN" sz="1800" b="1"/>
              <a:t>RAG Agent (FormFetch):</a:t>
            </a:r>
            <a:r>
              <a:rPr lang="en-IN" sz="1800"/>
              <a:t> Uses RAG method to extract the relevant customer’s information from the KYC form.</a:t>
            </a:r>
          </a:p>
          <a:p>
            <a:r>
              <a:rPr lang="en-IN" sz="1800" b="1"/>
              <a:t>Compare Agent (Validex):</a:t>
            </a:r>
            <a:r>
              <a:rPr lang="en-IN" sz="1800"/>
              <a:t> </a:t>
            </a:r>
            <a:r>
              <a:rPr lang="en-US" sz="1800"/>
              <a:t>Compares information extracted from the KYC application form (RAG output) with data extracted from various OCR agents to verify consistency and calculate similarity scores.</a:t>
            </a:r>
            <a:endParaRPr lang="en-IN" sz="1800"/>
          </a:p>
          <a:p>
            <a:endParaRPr lang="en-IN" sz="1800"/>
          </a:p>
          <a:p>
            <a:pPr marL="0" indent="0">
              <a:buNone/>
            </a:pPr>
            <a:endParaRPr lang="en-US" sz="1800"/>
          </a:p>
        </p:txBody>
      </p:sp>
    </p:spTree>
    <p:extLst>
      <p:ext uri="{BB962C8B-B14F-4D97-AF65-F5344CB8AC3E}">
        <p14:creationId xmlns:p14="http://schemas.microsoft.com/office/powerpoint/2010/main" val="3857584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DCBE4-61CE-3ED4-BDE4-CEAF3B09C402}"/>
              </a:ext>
            </a:extLst>
          </p:cNvPr>
          <p:cNvSpPr>
            <a:spLocks noGrp="1"/>
          </p:cNvSpPr>
          <p:nvPr>
            <p:ph type="title"/>
          </p:nvPr>
        </p:nvSpPr>
        <p:spPr>
          <a:xfrm>
            <a:off x="690033" y="-100542"/>
            <a:ext cx="10515600" cy="1325563"/>
          </a:xfrm>
        </p:spPr>
        <p:txBody>
          <a:bodyPr/>
          <a:lstStyle/>
          <a:p>
            <a:r>
              <a:rPr lang="en-US">
                <a:ea typeface="Calibri Light"/>
                <a:cs typeface="Calibri Light"/>
              </a:rPr>
              <a:t>RAG – </a:t>
            </a:r>
            <a:r>
              <a:rPr lang="en-US">
                <a:ea typeface="+mj-lt"/>
                <a:cs typeface="+mj-lt"/>
              </a:rPr>
              <a:t>Retrieval-Augmented Generation</a:t>
            </a:r>
            <a:endParaRPr lang="en-US">
              <a:ea typeface="Calibri Light"/>
              <a:cs typeface="Calibri Light"/>
            </a:endParaRPr>
          </a:p>
        </p:txBody>
      </p:sp>
      <p:pic>
        <p:nvPicPr>
          <p:cNvPr id="4" name="Content Placeholder 3" descr="A diagram of a computer&#10;&#10;AI-generated content may be incorrect.">
            <a:extLst>
              <a:ext uri="{FF2B5EF4-FFF2-40B4-BE49-F238E27FC236}">
                <a16:creationId xmlns:a16="http://schemas.microsoft.com/office/drawing/2014/main" id="{5D01A3E3-3868-0E19-D51C-C9FB377BB71A}"/>
              </a:ext>
            </a:extLst>
          </p:cNvPr>
          <p:cNvPicPr>
            <a:picLocks noGrp="1" noChangeAspect="1"/>
          </p:cNvPicPr>
          <p:nvPr>
            <p:ph idx="1"/>
          </p:nvPr>
        </p:nvPicPr>
        <p:blipFill>
          <a:blip r:embed="rId2"/>
          <a:stretch>
            <a:fillRect/>
          </a:stretch>
        </p:blipFill>
        <p:spPr>
          <a:xfrm>
            <a:off x="694085" y="1316802"/>
            <a:ext cx="10881486" cy="5304661"/>
          </a:xfrm>
        </p:spPr>
      </p:pic>
      <p:sp>
        <p:nvSpPr>
          <p:cNvPr id="6" name="TextBox 5">
            <a:extLst>
              <a:ext uri="{FF2B5EF4-FFF2-40B4-BE49-F238E27FC236}">
                <a16:creationId xmlns:a16="http://schemas.microsoft.com/office/drawing/2014/main" id="{71D7BBDC-41F2-D80A-BCA3-7BE0F55E6BA0}"/>
              </a:ext>
            </a:extLst>
          </p:cNvPr>
          <p:cNvSpPr txBox="1"/>
          <p:nvPr/>
        </p:nvSpPr>
        <p:spPr>
          <a:xfrm>
            <a:off x="879059" y="938454"/>
            <a:ext cx="6592945"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rgbClr val="1F1F1F"/>
                </a:solidFill>
                <a:latin typeface="Roboto"/>
                <a:ea typeface="Roboto"/>
                <a:cs typeface="Roboto"/>
              </a:rPr>
              <a:t>RAGs give LLMs additional knowledge</a:t>
            </a:r>
            <a:endParaRPr lang="en-US" sz="1600">
              <a:ea typeface="Calibri"/>
              <a:cs typeface="Calibri"/>
            </a:endParaRPr>
          </a:p>
          <a:p>
            <a:pPr marL="285750" indent="-285750">
              <a:buFont typeface="Arial"/>
              <a:buChar char="•"/>
            </a:pPr>
            <a:endParaRPr lang="en-US"/>
          </a:p>
          <a:p>
            <a:br>
              <a:rPr lang="en-US"/>
            </a:br>
            <a:endParaRPr lang="en-US"/>
          </a:p>
        </p:txBody>
      </p:sp>
    </p:spTree>
    <p:extLst>
      <p:ext uri="{BB962C8B-B14F-4D97-AF65-F5344CB8AC3E}">
        <p14:creationId xmlns:p14="http://schemas.microsoft.com/office/powerpoint/2010/main" val="2910494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11CC9-E782-445E-E379-83BDE2E2B339}"/>
              </a:ext>
            </a:extLst>
          </p:cNvPr>
          <p:cNvSpPr>
            <a:spLocks noGrp="1"/>
          </p:cNvSpPr>
          <p:nvPr>
            <p:ph type="title"/>
          </p:nvPr>
        </p:nvSpPr>
        <p:spPr>
          <a:xfrm>
            <a:off x="308072" y="-162943"/>
            <a:ext cx="10515600" cy="944563"/>
          </a:xfrm>
        </p:spPr>
        <p:txBody>
          <a:bodyPr/>
          <a:lstStyle/>
          <a:p>
            <a:r>
              <a:rPr lang="en-US" sz="4000" err="1">
                <a:ea typeface="Calibri Light"/>
                <a:cs typeface="Calibri Light"/>
              </a:rPr>
              <a:t>LangGraph</a:t>
            </a:r>
            <a:r>
              <a:rPr lang="en-US" sz="4000">
                <a:ea typeface="Calibri Light"/>
                <a:cs typeface="Calibri Light"/>
              </a:rPr>
              <a:t> Architecture (Code)</a:t>
            </a:r>
            <a:endParaRPr lang="en-US" sz="4000"/>
          </a:p>
        </p:txBody>
      </p:sp>
      <p:pic>
        <p:nvPicPr>
          <p:cNvPr id="4" name="Content Placeholder 3" descr="A screenshot of a computer program&#10;&#10;AI-generated content may be incorrect.">
            <a:extLst>
              <a:ext uri="{FF2B5EF4-FFF2-40B4-BE49-F238E27FC236}">
                <a16:creationId xmlns:a16="http://schemas.microsoft.com/office/drawing/2014/main" id="{CECF34A7-8D1D-01F6-9329-C34A6245FEFA}"/>
              </a:ext>
            </a:extLst>
          </p:cNvPr>
          <p:cNvPicPr>
            <a:picLocks noGrp="1" noChangeAspect="1"/>
          </p:cNvPicPr>
          <p:nvPr>
            <p:ph idx="1"/>
          </p:nvPr>
        </p:nvPicPr>
        <p:blipFill>
          <a:blip r:embed="rId2"/>
          <a:stretch>
            <a:fillRect/>
          </a:stretch>
        </p:blipFill>
        <p:spPr>
          <a:xfrm>
            <a:off x="445653" y="620913"/>
            <a:ext cx="9681241" cy="6118341"/>
          </a:xfrm>
        </p:spPr>
      </p:pic>
    </p:spTree>
    <p:extLst>
      <p:ext uri="{BB962C8B-B14F-4D97-AF65-F5344CB8AC3E}">
        <p14:creationId xmlns:p14="http://schemas.microsoft.com/office/powerpoint/2010/main" val="3979953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6A6F2-E5ED-12E8-A568-DF261904C190}"/>
              </a:ext>
            </a:extLst>
          </p:cNvPr>
          <p:cNvSpPr>
            <a:spLocks noGrp="1"/>
          </p:cNvSpPr>
          <p:nvPr>
            <p:ph type="title"/>
          </p:nvPr>
        </p:nvSpPr>
        <p:spPr>
          <a:xfrm>
            <a:off x="442357" y="-119784"/>
            <a:ext cx="10515600" cy="860447"/>
          </a:xfrm>
        </p:spPr>
        <p:txBody>
          <a:bodyPr/>
          <a:lstStyle/>
          <a:p>
            <a:r>
              <a:rPr lang="en-US">
                <a:ea typeface="+mj-lt"/>
                <a:cs typeface="+mj-lt"/>
              </a:rPr>
              <a:t>AI Supervisor </a:t>
            </a:r>
            <a:r>
              <a:rPr lang="en-US" err="1">
                <a:ea typeface="+mj-lt"/>
                <a:cs typeface="+mj-lt"/>
              </a:rPr>
              <a:t>DocuSure</a:t>
            </a:r>
            <a:r>
              <a:rPr lang="en-US">
                <a:ea typeface="+mj-lt"/>
                <a:cs typeface="+mj-lt"/>
              </a:rPr>
              <a:t> Prompt</a:t>
            </a:r>
            <a:endParaRPr lang="en-US">
              <a:ea typeface="Calibri Light"/>
              <a:cs typeface="Calibri Light"/>
            </a:endParaRPr>
          </a:p>
        </p:txBody>
      </p:sp>
      <p:pic>
        <p:nvPicPr>
          <p:cNvPr id="5" name="Content Placeholder 4">
            <a:extLst>
              <a:ext uri="{FF2B5EF4-FFF2-40B4-BE49-F238E27FC236}">
                <a16:creationId xmlns:a16="http://schemas.microsoft.com/office/drawing/2014/main" id="{09F345D9-F838-5CD9-A178-222B121690EA}"/>
              </a:ext>
            </a:extLst>
          </p:cNvPr>
          <p:cNvPicPr>
            <a:picLocks noGrp="1" noChangeAspect="1"/>
          </p:cNvPicPr>
          <p:nvPr>
            <p:ph idx="1"/>
          </p:nvPr>
        </p:nvPicPr>
        <p:blipFill>
          <a:blip r:embed="rId2"/>
          <a:stretch>
            <a:fillRect/>
          </a:stretch>
        </p:blipFill>
        <p:spPr>
          <a:xfrm>
            <a:off x="442357" y="742703"/>
            <a:ext cx="11317184" cy="6029174"/>
          </a:xfrm>
        </p:spPr>
      </p:pic>
    </p:spTree>
    <p:extLst>
      <p:ext uri="{BB962C8B-B14F-4D97-AF65-F5344CB8AC3E}">
        <p14:creationId xmlns:p14="http://schemas.microsoft.com/office/powerpoint/2010/main" val="242178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D0A2E-E07A-8AD7-39DD-466E68D90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6589F6-2E24-2B1D-57A0-68CC814739C2}"/>
              </a:ext>
            </a:extLst>
          </p:cNvPr>
          <p:cNvSpPr>
            <a:spLocks noGrp="1"/>
          </p:cNvSpPr>
          <p:nvPr>
            <p:ph type="title"/>
          </p:nvPr>
        </p:nvSpPr>
        <p:spPr/>
        <p:txBody>
          <a:bodyPr/>
          <a:lstStyle/>
          <a:p>
            <a:r>
              <a:rPr lang="en-US">
                <a:ea typeface="Calibri Light"/>
                <a:cs typeface="Calibri Light"/>
              </a:rPr>
              <a:t>Streamlit </a:t>
            </a:r>
          </a:p>
        </p:txBody>
      </p:sp>
      <p:sp>
        <p:nvSpPr>
          <p:cNvPr id="3" name="Content Placeholder 2">
            <a:extLst>
              <a:ext uri="{FF2B5EF4-FFF2-40B4-BE49-F238E27FC236}">
                <a16:creationId xmlns:a16="http://schemas.microsoft.com/office/drawing/2014/main" id="{A640FE12-E0D5-5787-00A3-31892AAA40A5}"/>
              </a:ext>
            </a:extLst>
          </p:cNvPr>
          <p:cNvSpPr>
            <a:spLocks noGrp="1"/>
          </p:cNvSpPr>
          <p:nvPr>
            <p:ph idx="1"/>
          </p:nvPr>
        </p:nvSpPr>
        <p:spPr>
          <a:xfrm>
            <a:off x="838200" y="1398242"/>
            <a:ext cx="10515600" cy="4351338"/>
          </a:xfrm>
        </p:spPr>
        <p:txBody>
          <a:bodyPr>
            <a:normAutofit/>
          </a:bodyPr>
          <a:lstStyle/>
          <a:p>
            <a:pPr marL="0" indent="0">
              <a:buNone/>
            </a:pPr>
            <a:r>
              <a:rPr lang="en-IN" sz="1800" b="1"/>
              <a:t>Streamlit</a:t>
            </a:r>
            <a:r>
              <a:rPr lang="en-IN" sz="1800"/>
              <a:t> is an open-source Python library that makes it incredibly easy to create custom web applications for data science and machine learning. It allows us to build interactive dashboards and user interfaces directly from Python scripts. In our system, Streamlit provides the front-end where users can interact with the document processing workflow, providing inputs, viewing results, and observing the system's progress.</a:t>
            </a:r>
          </a:p>
          <a:p>
            <a:pPr marL="0" indent="0">
              <a:buNone/>
            </a:pPr>
            <a:endParaRPr lang="en-IN" sz="1800"/>
          </a:p>
          <a:p>
            <a:pPr marL="0" indent="0">
              <a:buNone/>
            </a:pPr>
            <a:r>
              <a:rPr lang="en-IN" sz="1800"/>
              <a:t>Basic Components of streamlit:-</a:t>
            </a:r>
          </a:p>
          <a:p>
            <a:r>
              <a:rPr kumimoji="0" lang="en-US" altLang="en-US" sz="1800" b="1" i="0" u="none" strike="noStrike" cap="none" normalizeH="0" baseline="0">
                <a:ln>
                  <a:noFill/>
                </a:ln>
                <a:solidFill>
                  <a:schemeClr val="tx1"/>
                </a:solidFill>
                <a:effectLst/>
              </a:rPr>
              <a:t>st.write()</a:t>
            </a:r>
            <a:r>
              <a:rPr kumimoji="0" lang="en-US" altLang="en-US" sz="1800" b="0" i="0" u="none" strike="noStrike" cap="none" normalizeH="0" baseline="0">
                <a:ln>
                  <a:noFill/>
                </a:ln>
                <a:solidFill>
                  <a:schemeClr val="tx1"/>
                </a:solidFill>
                <a:effectLst/>
              </a:rPr>
              <a:t>: To display text, data frames, plots, and more. </a:t>
            </a:r>
          </a:p>
          <a:p>
            <a:r>
              <a:rPr kumimoji="0" lang="en-US" altLang="en-US" sz="1800" b="1" i="0" u="none" strike="noStrike" cap="none" normalizeH="0" baseline="0">
                <a:ln>
                  <a:noFill/>
                </a:ln>
                <a:solidFill>
                  <a:schemeClr val="tx1"/>
                </a:solidFill>
                <a:effectLst/>
              </a:rPr>
              <a:t>st.text_input()</a:t>
            </a:r>
            <a:r>
              <a:rPr kumimoji="0" lang="en-US" altLang="en-US" sz="1800" b="0" i="0" u="none" strike="noStrike" cap="none" normalizeH="0" baseline="0">
                <a:ln>
                  <a:noFill/>
                </a:ln>
                <a:solidFill>
                  <a:schemeClr val="tx1"/>
                </a:solidFill>
                <a:effectLst/>
              </a:rPr>
              <a:t>: To get text input from the user (e.g., for queries or IDs). </a:t>
            </a:r>
          </a:p>
          <a:p>
            <a:r>
              <a:rPr kumimoji="0" lang="en-US" altLang="en-US" sz="1800" b="1" i="0" u="none" strike="noStrike" cap="none" normalizeH="0" baseline="0">
                <a:ln>
                  <a:noFill/>
                </a:ln>
                <a:solidFill>
                  <a:schemeClr val="tx1"/>
                </a:solidFill>
                <a:effectLst/>
              </a:rPr>
              <a:t>st.button()</a:t>
            </a:r>
            <a:r>
              <a:rPr kumimoji="0" lang="en-US" altLang="en-US" sz="1800" b="0" i="0" u="none" strike="noStrike" cap="none" normalizeH="0" baseline="0">
                <a:ln>
                  <a:noFill/>
                </a:ln>
                <a:solidFill>
                  <a:schemeClr val="tx1"/>
                </a:solidFill>
                <a:effectLst/>
              </a:rPr>
              <a:t>: To trigger actions within the application.</a:t>
            </a:r>
          </a:p>
          <a:p>
            <a:r>
              <a:rPr kumimoji="0" lang="en-US" altLang="en-US" sz="1800" b="1" i="0" u="none" strike="noStrike" cap="none" normalizeH="0" baseline="0">
                <a:ln>
                  <a:noFill/>
                </a:ln>
                <a:solidFill>
                  <a:schemeClr val="tx1"/>
                </a:solidFill>
                <a:effectLst/>
              </a:rPr>
              <a:t>st.file_uploader()</a:t>
            </a:r>
            <a:r>
              <a:rPr kumimoji="0" lang="en-US" altLang="en-US" sz="1800" b="0" i="0" u="none" strike="noStrike" cap="none" normalizeH="0" baseline="0">
                <a:ln>
                  <a:noFill/>
                </a:ln>
                <a:solidFill>
                  <a:schemeClr val="tx1"/>
                </a:solidFill>
                <a:effectLst/>
              </a:rPr>
              <a:t>: To allow users to upload documents.</a:t>
            </a:r>
          </a:p>
          <a:p>
            <a:r>
              <a:rPr kumimoji="0" lang="en-US" altLang="en-US" sz="1800" b="1" i="0" u="none" strike="noStrike" cap="none" normalizeH="0" baseline="0">
                <a:ln>
                  <a:noFill/>
                </a:ln>
                <a:solidFill>
                  <a:schemeClr val="tx1"/>
                </a:solidFill>
                <a:effectLst/>
              </a:rPr>
              <a:t>st.progress() / st.spinner()</a:t>
            </a:r>
            <a:r>
              <a:rPr kumimoji="0" lang="en-US" altLang="en-US" sz="1800" b="0" i="0" u="none" strike="noStrike" cap="none" normalizeH="0" baseline="0">
                <a:ln>
                  <a:noFill/>
                </a:ln>
                <a:solidFill>
                  <a:schemeClr val="tx1"/>
                </a:solidFill>
                <a:effectLst/>
              </a:rPr>
              <a:t>: To indicate ongoing processes and provide feedback to the user. </a:t>
            </a:r>
          </a:p>
        </p:txBody>
      </p:sp>
    </p:spTree>
    <p:extLst>
      <p:ext uri="{BB962C8B-B14F-4D97-AF65-F5344CB8AC3E}">
        <p14:creationId xmlns:p14="http://schemas.microsoft.com/office/powerpoint/2010/main" val="2903883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C1DA3-9AC5-024D-DF46-0DFA55E3B604}"/>
              </a:ext>
            </a:extLst>
          </p:cNvPr>
          <p:cNvSpPr>
            <a:spLocks noGrp="1"/>
          </p:cNvSpPr>
          <p:nvPr>
            <p:ph type="title"/>
          </p:nvPr>
        </p:nvSpPr>
        <p:spPr>
          <a:xfrm>
            <a:off x="729343" y="2552164"/>
            <a:ext cx="10515600" cy="1325563"/>
          </a:xfrm>
        </p:spPr>
        <p:txBody>
          <a:bodyPr/>
          <a:lstStyle/>
          <a:p>
            <a:pPr algn="ctr"/>
            <a:r>
              <a:rPr lang="en-US" b="1">
                <a:ea typeface="Calibri Light"/>
                <a:cs typeface="Calibri Light"/>
              </a:rPr>
              <a:t>DEMO</a:t>
            </a:r>
          </a:p>
        </p:txBody>
      </p:sp>
    </p:spTree>
    <p:extLst>
      <p:ext uri="{BB962C8B-B14F-4D97-AF65-F5344CB8AC3E}">
        <p14:creationId xmlns:p14="http://schemas.microsoft.com/office/powerpoint/2010/main" val="4016990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75BF0-AC6E-9DB9-3A84-B3FE8C45D402}"/>
              </a:ext>
            </a:extLst>
          </p:cNvPr>
          <p:cNvSpPr>
            <a:spLocks noGrp="1"/>
          </p:cNvSpPr>
          <p:nvPr>
            <p:ph type="title"/>
          </p:nvPr>
        </p:nvSpPr>
        <p:spPr>
          <a:xfrm>
            <a:off x="1016330" y="2453203"/>
            <a:ext cx="10515600" cy="1325563"/>
          </a:xfrm>
        </p:spPr>
        <p:txBody>
          <a:bodyPr/>
          <a:lstStyle/>
          <a:p>
            <a:pPr algn="ctr"/>
            <a:r>
              <a:rPr lang="en-US">
                <a:ea typeface="Calibri Light"/>
                <a:cs typeface="Calibri Light"/>
              </a:rPr>
              <a:t>APPENDIX</a:t>
            </a:r>
          </a:p>
        </p:txBody>
      </p:sp>
    </p:spTree>
    <p:extLst>
      <p:ext uri="{BB962C8B-B14F-4D97-AF65-F5344CB8AC3E}">
        <p14:creationId xmlns:p14="http://schemas.microsoft.com/office/powerpoint/2010/main" val="759634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Agentic AI POC  </vt:lpstr>
      <vt:lpstr>Key concepts </vt:lpstr>
      <vt:lpstr>Agentic AI - Architecture</vt:lpstr>
      <vt:lpstr>Agents</vt:lpstr>
      <vt:lpstr>RAG – Retrieval-Augmented Generation</vt:lpstr>
      <vt:lpstr>LangGraph Architecture (Code)</vt:lpstr>
      <vt:lpstr>AI Supervisor DocuSure Prompt</vt:lpstr>
      <vt:lpstr>Streamlit </vt:lpstr>
      <vt:lpstr>DEMO</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Shelly Goel</dc:creator>
  <cp:revision>2</cp:revision>
  <dcterms:created xsi:type="dcterms:W3CDTF">2025-06-16T07:54:15Z</dcterms:created>
  <dcterms:modified xsi:type="dcterms:W3CDTF">2025-06-16T13:31:27Z</dcterms:modified>
</cp:coreProperties>
</file>